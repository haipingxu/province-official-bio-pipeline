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省级主官履历数据库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自动化构建系统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 for Chinese Provincial Official Biography Database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743200" cy="0"/>
          </a:xfrm>
          <a:prstGeom prst="line">
            <a:avLst/>
          </a:prstGeom>
          <a:noFill/>
          <a:ln w="38100">
            <a:solidFill>
              <a:srgbClr val="3A6E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许海平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v5.3 · 2026.04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项目目标与输入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构建中国 31 省级行政区主官（省长/主席 + 省委/市委书记）的结构化履历数据库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每位官员的全部职业经历 → 每段一行的 Excel 面板数据（38列），可直接用于实证研究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697480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286000"/>
            <a:ext cx="2697480" cy="54864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官员名单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百度百科星图 API 自动发现省长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Wikipedia + 手工补充书记数据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31省 × (省长+书记) 共 1000+ 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data/{省份}_officials.txt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286000"/>
            <a:ext cx="2697480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37560" y="2286000"/>
            <a:ext cx="2697480" cy="54864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百度百科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curl_cffi 优先 + Playwright 兜底 + 中文维基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消歧义页面自动解析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per-省份文件夹隔离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officials/{省份}/姓名_biography.txt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697480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697480" cy="54864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508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三 LLM + API 密钥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55080" y="283464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DeepSeek-V3（主提取，三步）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Doubao（独立验证，后备GLM-5/Qwen）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 K2.5（争议裁判+信心评分）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key 轮询池，50 并发 workers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技术架构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097280" cy="77724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0972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名单解析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508760" y="1097280"/>
            <a:ext cx="1097280" cy="77724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08760" y="10972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百科爬取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097280"/>
            <a:ext cx="1188720" cy="77724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109728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P0.5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文本预处理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69080" y="1097280"/>
            <a:ext cx="137160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069080" y="109728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DS提取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P3a Doubao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4924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77840" y="1097280"/>
            <a:ext cx="100584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577840" y="10972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分组对比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20840" y="1097280"/>
            <a:ext cx="100584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20840" y="1097280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Kimi裁判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35240" y="1280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863840" y="1097280"/>
            <a:ext cx="1097280" cy="7772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63840" y="10972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P4-5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Excel导出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743200"/>
                <a:gridCol w="21945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 名单解析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星图API + Wiki + 手工补充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合并去重（同名省长/书记）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{省}_officials.txt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P1 百科爬取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官员姓名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curl_cffi优先 + Playwright兜底 + 中文维基 + 消歧义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officials/{省}/姓名.txt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P0.5 文本预处理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百科原文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正则解析→编号行 L01-LNN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bio_summary + career_lines[]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P2+P3a 并行提取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编号行（~1000字）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DS三步 ∥ Doubao三步（50并发）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episodes[] + 标签 + 级别 ×2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Diff + P3b 裁判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 vs Doubao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字段级+分组级裁判 + 信心0-100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battle.xlsx + 裁判覆盖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P4-5 导出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裁判后结果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分组替换→扁平化→面板行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三表 Excel（38列 A→AL）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三步提取架构（v5.3 新增 Step3 行政级别）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743200" cy="3200400"/>
          </a:xfrm>
          <a:prstGeom prst="rect">
            <a:avLst/>
          </a:prstGeom>
          <a:solidFill>
            <a:srgbClr val="FAFB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1: 事实提取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编号行 → episodes[]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输入：career_lines (L01-LNN)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输出：episodes 含 source_line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每条引用原文编号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组织标签 33 选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标志位 23 选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3200400"/>
          </a:xfrm>
          <a:prstGeom prst="rect">
            <a:avLst/>
          </a:prstGeom>
          <a:solidFill>
            <a:srgbClr val="FAFB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9184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2: 分析打标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episodes → raw_bio + 标签 + 落马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输入：episodes + bio_summary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输出：人物级别标签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籍贯/民族/性别/学历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升迁/本省提拔/本省学习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落马信息提取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51560"/>
            <a:ext cx="2743200" cy="3200400"/>
          </a:xfrm>
          <a:prstGeom prst="rect">
            <a:avLst/>
          </a:prstGeom>
          <a:solidFill>
            <a:srgbClr val="FAFB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45720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0" y="1051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3: 行政级别 ★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职务+单位 → 批量级别判断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输入：所有episodes的职务+单位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输出：每条行政级别(10级)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正国级 → 科员级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含推导逻辑 reasoning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最终行政级别（人级汇总）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三步均由 Prompt 文件（prompts/*.md）外置控制，修改 Prompt 即可调整 LLM 行为，无需改代码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 LLM 交叉验证：确保结果可靠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743200" cy="2011680"/>
          </a:xfrm>
          <a:prstGeom prst="rect">
            <a:avLst/>
          </a:prstGeom>
          <a:solidFill>
            <a:srgbClr val="F8FA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6576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主提取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三步串行提取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Step1→Step2→Step3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编号行→episodes→标签→级别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743200" cy="2011680"/>
          </a:xfrm>
          <a:prstGeom prst="rect">
            <a:avLst/>
          </a:prstGeom>
          <a:solidFill>
            <a:srgbClr val="F8FA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29184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Doubao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独立验证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Prompt 同输入（后备GLM-5/Qwen）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完全独立三步提取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DS 结果 Diff 对比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05840"/>
            <a:ext cx="2743200" cy="2011680"/>
          </a:xfrm>
          <a:prstGeom prst="rect">
            <a:avLst/>
          </a:prstGeom>
          <a:solidFill>
            <a:srgbClr val="F8FA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217920" y="1005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K2.5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争议裁判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字段级：逐字段仲裁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分组级：拆分数量不同时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信心评分 0-100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1645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7432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7432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一致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才算可信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57400" y="3291840"/>
            <a:ext cx="1645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05740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205740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0" y="3291840"/>
            <a:ext cx="1645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84048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38列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84048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输出字段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A→AL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291840"/>
            <a:ext cx="1645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62356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~10min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2356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单省全流程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端到端耗时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3291840"/>
            <a:ext cx="164592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406640" y="3383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31省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406640" y="39319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全覆盖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1000+官员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核心设计：编号行 + 确定性匹配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FFF5F5"/>
          </a:solidFill>
          <a:ln w="1905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 旧方案（模糊匹配）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全文传记（3000-8000字）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匹配方式：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原文引用 bigram Jaccard 相似度 + 时间段重叠 + 单位/职务相似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同一条经历不同措辞 → 误判争议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LLM 上下文过长 → 遗漏/幻觉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匹配失败 → 虚假争议膨胀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 新方案（确定性匹配+分组裁判）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编号行 L01-LNN（~1000字）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匹配方式：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source_line 整数 → 确定性分组对齐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数量不同时整组裁判（v5新增）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上下文压缩 60-80%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零匹配歧义，消除虚假争议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分组裁判消除重复行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输出格式（38列 A→AL）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输出文件（per-省份隔离）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officials.xlsx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全部官员全部经历（每段一行）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governors.xlsx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仅省长/主席在本省任职的行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secretaries.xlsx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仅省委/市委书记在本省任职的行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battle.xlsx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DS vs Doubao 对比 + Kimi 裁判结果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核心列分类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371600"/>
            <a:ext cx="402336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4846320" y="1389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人级信息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0" y="13898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A-S (19列)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0" y="1691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姓名/出生/籍贯/民族/性别/学历/升迁/提拔/学习/最终行政级别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240280"/>
            <a:ext cx="402336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84632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行级信息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T-AF (13列)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46320" y="25603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序号/起止时间/组织标签/标志位/行政级别/单位/职务/原文/争议/任职地/中央地方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754880" y="3108960"/>
            <a:ext cx="4023360" cy="777240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84632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落马+标记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AH-AL (5列)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46320" y="3429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是否落马/落马原因/备注/该条是省长/该条是书记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3977640"/>
            <a:ext cx="402336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484632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v5.3 新增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85800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+3列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46320" y="4297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最终行政级别(S列) + 该条行政级别(Y列) + 裁判信心分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省级扩展：31省全覆盖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840480"/>
          </a:xfrm>
          <a:prstGeom prst="rect">
            <a:avLst/>
          </a:prstGeom>
          <a:solidFill>
            <a:srgbClr val="F8FAFF"/>
          </a:solidFill>
          <a:ln w="19050">
            <a:solidFill>
              <a:srgbClr val="3A6EA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数据采集架构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A6E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省长数据（自动采集）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百度百科星图 API → 542 位省长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getstarmapmountlist + collectinfo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自动解析任期（含代理、文革标记）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书记数据（三源合并）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百度星图（仅重庆有）+ Wikipedia + 手工补充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省需要手工网络搜索补充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合并后 505 位书记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爬取策略（三层架构）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curl_cffi 快速爬取 → Playwright 无头 Chrome 兜底 → 中文维基补充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消歧义页面自动解析（关键词匹配）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封锁时 WebSearch/手动补充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3840480"/>
          </a:xfrm>
          <a:prstGeom prst="rect">
            <a:avLst/>
          </a:prstGeom>
          <a:solidFill>
            <a:srgbClr val="F0FDF4"/>
          </a:solidFill>
          <a:ln w="19050">
            <a:solidFill>
              <a:srgbClr val="86EFA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采集进展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已完成名单（31/31 省，487人传记已爬取）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每省确保 1 位现任省长 + 1 位现任书记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任期重叠、多个至今等问题已修复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爬取完成情况（31/31省）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31 省已完成爬取，共 487 份传记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江苏(25) 江西(24) 山西(21) 辽宁(20) 青海(18)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河北(18) 内蒙古(18) 四川(16) 重庆(16) 等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Per-省份目录隔离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officials/{省}/ → 传记文本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logs/{省}/ → 中间 JSON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output/{省}/ → Excel 输出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6EA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欢迎提问与讨论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657600"/>
            <a:ext cx="2743200" cy="0"/>
          </a:xfrm>
          <a:prstGeom prst="line">
            <a:avLst/>
          </a:prstGeom>
          <a:noFill/>
          <a:ln w="25400">
            <a:solidFill>
              <a:srgbClr val="3A6EA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HaipingXu (private)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省级主官履历数据库 — 自动化构建系统</dc:title>
  <dc:subject>PptxGenJS Presentation</dc:subject>
  <dc:creator>许海平</dc:creator>
  <cp:lastModifiedBy>许海平</cp:lastModifiedBy>
  <cp:revision>1</cp:revision>
  <dcterms:created xsi:type="dcterms:W3CDTF">2026-03-27T06:38:06Z</dcterms:created>
  <dcterms:modified xsi:type="dcterms:W3CDTF">2026-03-27T06:38:06Z</dcterms:modified>
</cp:coreProperties>
</file>